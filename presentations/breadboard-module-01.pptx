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86afd7bc584eb6" /><Relationship Type="http://schemas.openxmlformats.org/officeDocument/2006/relationships/extended-properties" Target="/docProps/app.xml" Id="Rac82e08acab44ab7" /><Relationship Type="http://schemas.openxmlformats.org/officeDocument/2006/relationships/officeDocument" Target="/ppt/presentation.xml" Id="R571f5ca5818b45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519ead35c94d77"/>
  </p:sldMasterIdLst>
  <p:notesMasterIdLst>
    <p:notesMasterId xmlns:r="http://schemas.openxmlformats.org/officeDocument/2006/relationships" r:id="R9fad3e0629eb4296"/>
  </p:notesMasterIdLst>
  <p:sldIdLst>
    <p:sldId xmlns:r="http://schemas.openxmlformats.org/officeDocument/2006/relationships" id="256" r:id="R24992404e299435f"/>
    <p:sldId xmlns:r="http://schemas.openxmlformats.org/officeDocument/2006/relationships" id="257" r:id="R8100e4ce2ef74770"/>
    <p:sldId xmlns:r="http://schemas.openxmlformats.org/officeDocument/2006/relationships" id="258" r:id="Rf880ef3678a64b1c"/>
    <p:sldId xmlns:r="http://schemas.openxmlformats.org/officeDocument/2006/relationships" id="259" r:id="Ra1323193da3b46aa"/>
    <p:sldId xmlns:r="http://schemas.openxmlformats.org/officeDocument/2006/relationships" id="260" r:id="Rd09b4af0fc5141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85f569cb01452e" /><Relationship Type="http://schemas.openxmlformats.org/officeDocument/2006/relationships/slideMaster" Target="/ppt/slideMasters/slideMaster1.xml" Id="R4f519ead35c94d77" /><Relationship Type="http://schemas.openxmlformats.org/officeDocument/2006/relationships/notesMaster" Target="/ppt/notesMasters/notesMaster1.xml" Id="R9fad3e0629eb4296" /><Relationship Type="http://schemas.openxmlformats.org/officeDocument/2006/relationships/presProps" Target="/ppt/presProps.xml" Id="R453a8249309b4a4f" /><Relationship Type="http://schemas.openxmlformats.org/officeDocument/2006/relationships/tableStyles" Target="/ppt/tableStyles.xml" Id="R9594c28066614658" /><Relationship Type="http://schemas.openxmlformats.org/officeDocument/2006/relationships/slide" Target="/ppt/slides/slide1.xml" Id="R24992404e299435f" /><Relationship Type="http://schemas.openxmlformats.org/officeDocument/2006/relationships/slide" Target="/ppt/slides/slide2.xml" Id="R8100e4ce2ef74770" /><Relationship Type="http://schemas.openxmlformats.org/officeDocument/2006/relationships/slide" Target="/ppt/slides/slide3.xml" Id="Rf880ef3678a64b1c" /><Relationship Type="http://schemas.openxmlformats.org/officeDocument/2006/relationships/slide" Target="/ppt/slides/slide4.xml" Id="Ra1323193da3b46aa" /><Relationship Type="http://schemas.openxmlformats.org/officeDocument/2006/relationships/slide" Target="/ppt/slides/slide5.xml" Id="Rd09b4af0fc5141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46d032bc6741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063ff113144000" /><Relationship Type="http://schemas.openxmlformats.org/officeDocument/2006/relationships/notesMaster" Target="/ppt/notesMasters/notesMaster1.xml" Id="R003aa8e1cce248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80a1f78b2443e5" /><Relationship Type="http://schemas.openxmlformats.org/officeDocument/2006/relationships/notesMaster" Target="/ppt/notesMasters/notesMaster1.xml" Id="R721ac1fd9bb04f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076602a5464785" /><Relationship Type="http://schemas.openxmlformats.org/officeDocument/2006/relationships/notesMaster" Target="/ppt/notesMasters/notesMaster1.xml" Id="Re8453d859ce849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a7bc30e64348a6" /><Relationship Type="http://schemas.openxmlformats.org/officeDocument/2006/relationships/notesMaster" Target="/ppt/notesMasters/notesMaster1.xml" Id="R15bf86778a0e4d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ad21f12a524bd4" /><Relationship Type="http://schemas.openxmlformats.org/officeDocument/2006/relationships/notesMaster" Target="/ppt/notesMasters/notesMaster1.xml" Id="R48de6a98c1264a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66947698c40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8ad1607bb447c8" /><Relationship Type="http://schemas.openxmlformats.org/officeDocument/2006/relationships/slideLayout" Target="/ppt/slideLayouts/slideLayout1.xml" Id="Rd153b8a65bd543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53b8a65bd543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a6dc855954390" /><Relationship Type="http://schemas.openxmlformats.org/officeDocument/2006/relationships/image" Target="/ppt/media/image.png" Id="R3b4cf9047c6a489e" /><Relationship Type="http://schemas.openxmlformats.org/officeDocument/2006/relationships/notesSlide" Target="/ppt/notesSlides/notesSlide1.xml" Id="R96f7aa7168db41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70d5a0c12480e" /><Relationship Type="http://schemas.openxmlformats.org/officeDocument/2006/relationships/image" Target="/ppt/media/image.jpeg" Id="R5cfd4f3dd9ec4575" /><Relationship Type="http://schemas.openxmlformats.org/officeDocument/2006/relationships/notesSlide" Target="/ppt/notesSlides/notesSlide2.xml" Id="Rdaf2f8b7ac2d4c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fb16819594e6a" /><Relationship Type="http://schemas.openxmlformats.org/officeDocument/2006/relationships/image" Target="/ppt/media/image2.jpeg" Id="Rf0f7352bf4724468" /><Relationship Type="http://schemas.openxmlformats.org/officeDocument/2006/relationships/notesSlide" Target="/ppt/notesSlides/notesSlide3.xml" Id="R4ac3373ec3f64a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9191d9847479a" /><Relationship Type="http://schemas.openxmlformats.org/officeDocument/2006/relationships/image" Target="/ppt/media/image3.jpeg" Id="R8354f46df37e46da" /><Relationship Type="http://schemas.openxmlformats.org/officeDocument/2006/relationships/notesSlide" Target="/ppt/notesSlides/notesSlide4.xml" Id="R5714de947ad94b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d5a93863b4111" /><Relationship Type="http://schemas.openxmlformats.org/officeDocument/2006/relationships/notesSlide" Target="/ppt/notesSlides/notesSlide5.xml" Id="R7ab0dfe9804e4d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cf9047c6a489e"/>
          <a:srcRect xmlns:a="http://schemas.openxmlformats.org/drawingml/2006/main" l="27196" t="0" r="271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B7A174B5-BFF3-4E9C-92AC-033E98B8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B1E2BEF-F30A-4051-B48D-0D8DE571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1 OF 5 · WEEKS 1–2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8A1BE1F-1317-422D-A745-BD5D6C0F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Workshop readiness and accurate marking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F5FEF70-FF44-4E7F-97A3-60A1DF1E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14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Understand the project, manage risk and read the supplied plan before making a mark.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3FBEECA2-0241-434A-9BBD-824B7FF5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Bread Board Guided Course</a:t>
            </a:r>
          </a:p>
        </p:txBody>
      </p:sp>
    </p:spTree>
    <p:extLst>
      <p:ext uri="{BB962C8B-B14F-4D97-AF65-F5344CB8AC3E}">
        <p14:creationId xmlns:p14="http://schemas.microsoft.com/office/powerpoint/2010/main" val="173512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ABA5AF56-A8F7-4D19-837B-1350DE87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1 OF 5 · WEEKS 1–2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7D1FC7C8-32F9-4DFD-8CC6-0E930CB3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d4f3dd9ec4575"/>
          <a:srcRect xmlns:a="http://schemas.openxmlformats.org/drawingml/2006/main" l="0" t="4237" r="0" b="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561975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0">
            <a:extLst xmlns:a="http://schemas.openxmlformats.org/drawingml/2006/main">
              <a:ext uri="{FF2B5EF4-FFF2-40B4-BE49-F238E27FC236}">
                <a16:creationId xmlns:a16="http://schemas.microsoft.com/office/drawing/2014/main" id="{04AFDED3-88E5-49A4-8F1C-BB9531E1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Begin with the brief and a ready workspace</a:t>
            </a:r>
          </a:p>
        </p:txBody>
      </p:sp>
      <p:sp>
        <p:nvSpPr>
          <p:cNvPr id="5" name="topic-body-0">
            <a:extLst xmlns:a="http://schemas.openxmlformats.org/drawingml/2006/main">
              <a:ext uri="{FF2B5EF4-FFF2-40B4-BE49-F238E27FC236}">
                <a16:creationId xmlns:a16="http://schemas.microsoft.com/office/drawing/2014/main" id="{0F64147B-030B-4423-9690-FC323CB7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579"/>
                </a:solidFill>
                <a:latin typeface="Arial"/>
                <a:ea typeface="Arial"/>
                <a:cs typeface="Arial"/>
              </a:rPr>
              <a:t>Confirm the required outcome, inspect the shared workspace and follow teacher directions before practical work begins.</a:t>
            </a:r>
          </a:p>
        </p:txBody>
      </p:sp>
      <p:sp>
        <p:nvSpPr>
          <p:cNvPr id="6" name="check-rule-0">
            <a:extLst xmlns:a="http://schemas.openxmlformats.org/drawingml/2006/main">
              <a:ext uri="{FF2B5EF4-FFF2-40B4-BE49-F238E27FC236}">
                <a16:creationId xmlns:a16="http://schemas.microsoft.com/office/drawing/2014/main" id="{FE53AAD6-E7DB-4086-82D4-04753FF8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0">
            <a:extLst xmlns:a="http://schemas.openxmlformats.org/drawingml/2006/main">
              <a:ext uri="{FF2B5EF4-FFF2-40B4-BE49-F238E27FC236}">
                <a16:creationId xmlns:a16="http://schemas.microsoft.com/office/drawing/2014/main" id="{655EC9EF-DF32-4E30-AA56-54B2336D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Stop when the plan, stock, tool or next action is uncertain.</a:t>
            </a:r>
          </a:p>
        </p:txBody>
      </p:sp>
    </p:spTree>
    <p:extLst>
      <p:ext uri="{BB962C8B-B14F-4D97-AF65-F5344CB8AC3E}">
        <p14:creationId xmlns:p14="http://schemas.microsoft.com/office/powerpoint/2010/main" val="1224049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22EECD20-A02B-485B-845D-1B352998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1 OF 5 · WEEKS 1–2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3D4511DF-046F-4426-83C1-BBABF8D2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accent-1">
            <a:extLst xmlns:a="http://schemas.openxmlformats.org/drawingml/2006/main">
              <a:ext uri="{FF2B5EF4-FFF2-40B4-BE49-F238E27FC236}">
                <a16:creationId xmlns:a16="http://schemas.microsoft.com/office/drawing/2014/main" id="{68DA8E61-820E-4187-9D86-DD301B1B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7352bf4724468"/>
          <a:srcRect xmlns:a="http://schemas.openxmlformats.org/drawingml/2006/main" l="0" t="4237" r="0" b="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57250"/>
            <a:ext cx="5619750" cy="5143500"/>
          </a:xfrm>
          <a:prstGeom xmlns:a="http://schemas.openxmlformats.org/drawingml/2006/main" prst="rect">
            <a:avLst/>
          </a:prstGeom>
        </p:spPr>
      </p:pic>
      <p:sp>
        <p:nvSpPr>
          <p:cNvPr id="5" name="topic-title-1">
            <a:extLst xmlns:a="http://schemas.openxmlformats.org/drawingml/2006/main">
              <a:ext uri="{FF2B5EF4-FFF2-40B4-BE49-F238E27FC236}">
                <a16:creationId xmlns:a16="http://schemas.microsoft.com/office/drawing/2014/main" id="{F1CC391D-3208-4A61-A836-D3D8A475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0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A hazard needs a suitable control</a:t>
            </a:r>
          </a:p>
        </p:txBody>
      </p:sp>
      <p:sp>
        <p:nvSpPr>
          <p:cNvPr id="6" name="topic-body-1">
            <a:extLst xmlns:a="http://schemas.openxmlformats.org/drawingml/2006/main">
              <a:ext uri="{FF2B5EF4-FFF2-40B4-BE49-F238E27FC236}">
                <a16:creationId xmlns:a16="http://schemas.microsoft.com/office/drawing/2014/main" id="{CB7F21BE-04EF-449F-9956-64CB3C2E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579"/>
                </a:solidFill>
                <a:latin typeface="Arial"/>
                <a:ea typeface="Arial"/>
                <a:cs typeface="Arial"/>
              </a:rPr>
              <a:t>Identify what could cause harm, consider the risk and apply the strongest suitable control available in the school workshop.</a:t>
            </a:r>
          </a:p>
        </p:txBody>
      </p:sp>
      <p:sp>
        <p:nvSpPr>
          <p:cNvPr id="7" name="check-rule-1">
            <a:extLst xmlns:a="http://schemas.openxmlformats.org/drawingml/2006/main">
              <a:ext uri="{FF2B5EF4-FFF2-40B4-BE49-F238E27FC236}">
                <a16:creationId xmlns:a16="http://schemas.microsoft.com/office/drawing/2014/main" id="{5E7AA242-D0B0-4FE0-ABF4-B5AFDBEC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opic-check-1">
            <a:extLst xmlns:a="http://schemas.openxmlformats.org/drawingml/2006/main">
              <a:ext uri="{FF2B5EF4-FFF2-40B4-BE49-F238E27FC236}">
                <a16:creationId xmlns:a16="http://schemas.microsoft.com/office/drawing/2014/main" id="{5409D109-5846-409B-A76B-8C9C58A1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PPE is one layer; it does not make an unsafe setup acceptable.</a:t>
            </a:r>
          </a:p>
        </p:txBody>
      </p:sp>
    </p:spTree>
    <p:extLst>
      <p:ext uri="{BB962C8B-B14F-4D97-AF65-F5344CB8AC3E}">
        <p14:creationId xmlns:p14="http://schemas.microsoft.com/office/powerpoint/2010/main" val="452465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4">
            <a:extLst xmlns:a="http://schemas.openxmlformats.org/drawingml/2006/main">
              <a:ext uri="{FF2B5EF4-FFF2-40B4-BE49-F238E27FC236}">
                <a16:creationId xmlns:a16="http://schemas.microsoft.com/office/drawing/2014/main" id="{95BD99EA-FC6F-4EBA-AAE4-2BCEB315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MODULE 1 OF 5 · WEEKS 1–2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A41A5AC0-D475-4860-AECF-747CCE45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4f46df37e46da"/>
          <a:srcRect xmlns:a="http://schemas.openxmlformats.org/drawingml/2006/main" l="0" t="4237" r="0" b="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561975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2">
            <a:extLst xmlns:a="http://schemas.openxmlformats.org/drawingml/2006/main">
              <a:ext uri="{FF2B5EF4-FFF2-40B4-BE49-F238E27FC236}">
                <a16:creationId xmlns:a16="http://schemas.microsoft.com/office/drawing/2014/main" id="{4E7AC063-73E8-445D-8013-D1D0DC8F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One reliable datum keeps marks connected</a:t>
            </a:r>
          </a:p>
        </p:txBody>
      </p:sp>
      <p:sp>
        <p:nvSpPr>
          <p:cNvPr id="5" name="topic-body-2">
            <a:extLst xmlns:a="http://schemas.openxmlformats.org/drawingml/2006/main">
              <a:ext uri="{FF2B5EF4-FFF2-40B4-BE49-F238E27FC236}">
                <a16:creationId xmlns:a16="http://schemas.microsoft.com/office/drawing/2014/main" id="{166DB5EC-8D08-46BE-9AFB-1E251004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26579"/>
                </a:solidFill>
                <a:latin typeface="Arial"/>
                <a:ea typeface="Arial"/>
                <a:cs typeface="Arial"/>
              </a:rPr>
              <a:t>Read the supplied plan, measure from the agreed reference and use one fine checked line before material is removed.</a:t>
            </a:r>
          </a:p>
        </p:txBody>
      </p:sp>
      <p:sp>
        <p:nvSpPr>
          <p:cNvPr id="6" name="check-rule-2">
            <a:extLst xmlns:a="http://schemas.openxmlformats.org/drawingml/2006/main">
              <a:ext uri="{FF2B5EF4-FFF2-40B4-BE49-F238E27FC236}">
                <a16:creationId xmlns:a16="http://schemas.microsoft.com/office/drawing/2014/main" id="{9FC31073-61D6-4B0C-9662-68875536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2">
            <a:extLst xmlns:a="http://schemas.openxmlformats.org/drawingml/2006/main">
              <a:ext uri="{FF2B5EF4-FFF2-40B4-BE49-F238E27FC236}">
                <a16:creationId xmlns:a16="http://schemas.microsoft.com/office/drawing/2014/main" id="{3A0FC7A3-20B0-4153-A43C-0661F4FC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Measure twice, check square and preserve the working boundary.</a:t>
            </a:r>
          </a:p>
        </p:txBody>
      </p:sp>
    </p:spTree>
    <p:extLst>
      <p:ext uri="{BB962C8B-B14F-4D97-AF65-F5344CB8AC3E}">
        <p14:creationId xmlns:p14="http://schemas.microsoft.com/office/powerpoint/2010/main" val="5904324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5">
            <a:extLst xmlns:a="http://schemas.openxmlformats.org/drawingml/2006/main">
              <a:ext uri="{FF2B5EF4-FFF2-40B4-BE49-F238E27FC236}">
                <a16:creationId xmlns:a16="http://schemas.microsoft.com/office/drawing/2014/main" id="{C26860C1-0EAA-49F7-96D0-91CEC4D1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D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D3A"/>
                </a:solidFill>
                <a:latin typeface="Arial"/>
                <a:ea typeface="Arial"/>
                <a:cs typeface="Arial"/>
              </a:rPr>
              <a:t>BEFORE YOU MOVE ON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861938D9-2F64-41D3-9E8B-A55D8D81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close-panel">
            <a:extLst xmlns:a="http://schemas.openxmlformats.org/drawingml/2006/main">
              <a:ext uri="{FF2B5EF4-FFF2-40B4-BE49-F238E27FC236}">
                <a16:creationId xmlns:a16="http://schemas.microsoft.com/office/drawing/2014/main" id="{A71486D1-708F-4E85-B0BD-C566C7E7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244BE2F-9338-4D49-81B7-DFAB299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Ready means brief understood, hazards controlled and every mark traceable to the supplied plan.</a:t>
            </a:r>
          </a:p>
        </p:txBody>
      </p:sp>
      <p:sp>
        <p:nvSpPr>
          <p:cNvPr id="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EEEB5774-4ADB-400C-AAB3-4940B72B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Complete the knowledge checks and written responses, then save your evidence as directed.</a:t>
            </a:r>
          </a:p>
        </p:txBody>
      </p:sp>
    </p:spTree>
    <p:extLst>
      <p:ext uri="{BB962C8B-B14F-4D97-AF65-F5344CB8AC3E}">
        <p14:creationId xmlns:p14="http://schemas.microsoft.com/office/powerpoint/2010/main" val="333559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2026-08-15T09:57:09.2230000Z</dcterms:created>
  <dcterms:modified xsi:type="dcterms:W3CDTF">2026-08-15T09:57:09.2230000Z</dcterms:modified>
</coreProperties>
</file>