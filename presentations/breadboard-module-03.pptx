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c47825116f49e5" /><Relationship Type="http://schemas.openxmlformats.org/officeDocument/2006/relationships/extended-properties" Target="/docProps/app.xml" Id="R59ba0b43ee544bb1" /><Relationship Type="http://schemas.openxmlformats.org/officeDocument/2006/relationships/officeDocument" Target="/ppt/presentation.xml" Id="Rd48c584cf8bd44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f36e90c6b047f3"/>
  </p:sldMasterIdLst>
  <p:notesMasterIdLst>
    <p:notesMasterId xmlns:r="http://schemas.openxmlformats.org/officeDocument/2006/relationships" r:id="R450c0d5a4aed41a8"/>
  </p:notesMasterIdLst>
  <p:sldIdLst>
    <p:sldId xmlns:r="http://schemas.openxmlformats.org/officeDocument/2006/relationships" id="256" r:id="R5d240e07ed4241d3"/>
    <p:sldId xmlns:r="http://schemas.openxmlformats.org/officeDocument/2006/relationships" id="257" r:id="R784e268e76b04049"/>
    <p:sldId xmlns:r="http://schemas.openxmlformats.org/officeDocument/2006/relationships" id="258" r:id="R0da830878bc043e3"/>
    <p:sldId xmlns:r="http://schemas.openxmlformats.org/officeDocument/2006/relationships" id="259" r:id="R9c602634986c4769"/>
    <p:sldId xmlns:r="http://schemas.openxmlformats.org/officeDocument/2006/relationships" id="260" r:id="R15eb5adaa4e148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8af39c884e49f3" /><Relationship Type="http://schemas.openxmlformats.org/officeDocument/2006/relationships/slideMaster" Target="/ppt/slideMasters/slideMaster1.xml" Id="R79f36e90c6b047f3" /><Relationship Type="http://schemas.openxmlformats.org/officeDocument/2006/relationships/notesMaster" Target="/ppt/notesMasters/notesMaster1.xml" Id="R450c0d5a4aed41a8" /><Relationship Type="http://schemas.openxmlformats.org/officeDocument/2006/relationships/presProps" Target="/ppt/presProps.xml" Id="R6195a96e95be4e57" /><Relationship Type="http://schemas.openxmlformats.org/officeDocument/2006/relationships/tableStyles" Target="/ppt/tableStyles.xml" Id="Rcb47b1013a574c46" /><Relationship Type="http://schemas.openxmlformats.org/officeDocument/2006/relationships/slide" Target="/ppt/slides/slide1.xml" Id="R5d240e07ed4241d3" /><Relationship Type="http://schemas.openxmlformats.org/officeDocument/2006/relationships/slide" Target="/ppt/slides/slide2.xml" Id="R784e268e76b04049" /><Relationship Type="http://schemas.openxmlformats.org/officeDocument/2006/relationships/slide" Target="/ppt/slides/slide3.xml" Id="R0da830878bc043e3" /><Relationship Type="http://schemas.openxmlformats.org/officeDocument/2006/relationships/slide" Target="/ppt/slides/slide4.xml" Id="R9c602634986c4769" /><Relationship Type="http://schemas.openxmlformats.org/officeDocument/2006/relationships/slide" Target="/ppt/slides/slide5.xml" Id="R15eb5adaa4e148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3f1596d6df49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80589f3e07405b" /><Relationship Type="http://schemas.openxmlformats.org/officeDocument/2006/relationships/notesMaster" Target="/ppt/notesMasters/notesMaster1.xml" Id="Rc03f5d6c9d034d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27fa169eea4833" /><Relationship Type="http://schemas.openxmlformats.org/officeDocument/2006/relationships/notesMaster" Target="/ppt/notesMasters/notesMaster1.xml" Id="R9d999194fb3c48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f65d62c1c0479d" /><Relationship Type="http://schemas.openxmlformats.org/officeDocument/2006/relationships/notesMaster" Target="/ppt/notesMasters/notesMaster1.xml" Id="R5b471eee878b45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c58f16361c4d4a" /><Relationship Type="http://schemas.openxmlformats.org/officeDocument/2006/relationships/notesMaster" Target="/ppt/notesMasters/notesMaster1.xml" Id="Rd7c6d0e6353847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1b38b2f52446af" /><Relationship Type="http://schemas.openxmlformats.org/officeDocument/2006/relationships/notesMaster" Target="/ppt/notesMasters/notesMaster1.xml" Id="Rcc41aade160344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fe66b8cffd49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f7856f1709422d" /><Relationship Type="http://schemas.openxmlformats.org/officeDocument/2006/relationships/slideLayout" Target="/ppt/slideLayouts/slideLayout1.xml" Id="R0bd29c109b8142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d29c109b8142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0480414944363" /><Relationship Type="http://schemas.openxmlformats.org/officeDocument/2006/relationships/image" Target="/ppt/media/image.png" Id="Rbc74cbb1f3f54c9f" /><Relationship Type="http://schemas.openxmlformats.org/officeDocument/2006/relationships/notesSlide" Target="/ppt/notesSlides/notesSlide1.xml" Id="Rf7c7b5a5c66746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3d80335d044f7" /><Relationship Type="http://schemas.openxmlformats.org/officeDocument/2006/relationships/image" Target="/ppt/media/image.jpeg" Id="Rc6425efa413e42ff" /><Relationship Type="http://schemas.openxmlformats.org/officeDocument/2006/relationships/notesSlide" Target="/ppt/notesSlides/notesSlide2.xml" Id="R5a20187a2bb54d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3ec7c942b4b88" /><Relationship Type="http://schemas.openxmlformats.org/officeDocument/2006/relationships/image" Target="/ppt/media/image2.jpeg" Id="Rcc32faf9b4e34ce0" /><Relationship Type="http://schemas.openxmlformats.org/officeDocument/2006/relationships/notesSlide" Target="/ppt/notesSlides/notesSlide3.xml" Id="R57b1f1c9c74a4d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0a8034c8e4446" /><Relationship Type="http://schemas.openxmlformats.org/officeDocument/2006/relationships/image" Target="/ppt/media/image.bin" Id="R6aad2471d8554fd1" /><Relationship Type="http://schemas.openxmlformats.org/officeDocument/2006/relationships/notesSlide" Target="/ppt/notesSlides/notesSlide4.xml" Id="R6b85d16c5d3442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1c51a3dde4ab1" /><Relationship Type="http://schemas.openxmlformats.org/officeDocument/2006/relationships/notesSlide" Target="/ppt/notesSlides/notesSlide5.xml" Id="R5d73f7ecec2a41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4cbb1f3f54c9f"/>
          <a:srcRect xmlns:a="http://schemas.openxmlformats.org/drawingml/2006/main" l="27332" t="0" r="273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AF95CAA4-3909-436B-8952-88852B4B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4DC9A2A-07F1-4A83-BAD5-C8167AC7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D3A"/>
                </a:solidFill>
                <a:latin typeface="Arial"/>
                <a:ea typeface="Arial"/>
                <a:cs typeface="Arial"/>
              </a:rPr>
              <a:t>MODULE 3 OF 5 · WEEKS 5–6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EB08056-3FCE-474A-BA3A-46233985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5238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Dry assembly, glue-up and routed profiles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DE8F958-845B-4DF1-BFE3-6229F030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5143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579"/>
                </a:solidFill>
                <a:latin typeface="Arial"/>
                <a:ea typeface="Arial"/>
                <a:cs typeface="Arial"/>
              </a:rPr>
              <a:t>Use reversible checks before adhesive and treat every router decision as teacher controlled.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44194482-9DE3-4138-BFD8-71D3FC8E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Bread Board Guided Course</a:t>
            </a:r>
          </a:p>
        </p:txBody>
      </p:sp>
    </p:spTree>
    <p:extLst>
      <p:ext uri="{BB962C8B-B14F-4D97-AF65-F5344CB8AC3E}">
        <p14:creationId xmlns:p14="http://schemas.microsoft.com/office/powerpoint/2010/main" val="45275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5B37C9F4-7D65-4BD5-9DD5-BBB76FB7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D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D3A"/>
                </a:solidFill>
                <a:latin typeface="Arial"/>
                <a:ea typeface="Arial"/>
                <a:cs typeface="Arial"/>
              </a:rPr>
              <a:t>MODULE 3 OF 5 · WEEKS 5–6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4BE5DE59-AC1F-4E14-839E-C47B27C3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25efa413e42ff"/>
          <a:srcRect xmlns:a="http://schemas.openxmlformats.org/drawingml/2006/main" l="0" t="4237" r="0" b="42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857250"/>
            <a:ext cx="5619750" cy="5143500"/>
          </a:xfrm>
          <a:prstGeom xmlns:a="http://schemas.openxmlformats.org/drawingml/2006/main" prst="rect">
            <a:avLst/>
          </a:prstGeom>
        </p:spPr>
      </p:pic>
      <p:sp>
        <p:nvSpPr>
          <p:cNvPr id="4" name="topic-title-0">
            <a:extLst xmlns:a="http://schemas.openxmlformats.org/drawingml/2006/main">
              <a:ext uri="{FF2B5EF4-FFF2-40B4-BE49-F238E27FC236}">
                <a16:creationId xmlns:a16="http://schemas.microsoft.com/office/drawing/2014/main" id="{2F4F73DF-FCDB-416D-90CC-E26C8963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Dry assembly exposes problems while they are reversible</a:t>
            </a:r>
          </a:p>
        </p:txBody>
      </p:sp>
      <p:sp>
        <p:nvSpPr>
          <p:cNvPr id="5" name="topic-body-0">
            <a:extLst xmlns:a="http://schemas.openxmlformats.org/drawingml/2006/main">
              <a:ext uri="{FF2B5EF4-FFF2-40B4-BE49-F238E27FC236}">
                <a16:creationId xmlns:a16="http://schemas.microsoft.com/office/drawing/2014/main" id="{C6FD840A-0818-4256-A158-2CF7D0A2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26579"/>
                </a:solidFill>
                <a:latin typeface="Arial"/>
                <a:ea typeface="Arial"/>
                <a:cs typeface="Arial"/>
              </a:rPr>
              <a:t>Check orientation, biscuit alignment, edge contact and overall panel condition before glue is introduced.</a:t>
            </a:r>
          </a:p>
        </p:txBody>
      </p:sp>
      <p:sp>
        <p:nvSpPr>
          <p:cNvPr id="6" name="check-rule-0">
            <a:extLst xmlns:a="http://schemas.openxmlformats.org/drawingml/2006/main">
              <a:ext uri="{FF2B5EF4-FFF2-40B4-BE49-F238E27FC236}">
                <a16:creationId xmlns:a16="http://schemas.microsoft.com/office/drawing/2014/main" id="{FBBA1DF9-1259-4559-9CDA-D3F422C4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topic-check-0">
            <a:extLst xmlns:a="http://schemas.openxmlformats.org/drawingml/2006/main">
              <a:ext uri="{FF2B5EF4-FFF2-40B4-BE49-F238E27FC236}">
                <a16:creationId xmlns:a16="http://schemas.microsoft.com/office/drawing/2014/main" id="{B8BA9915-F152-42CC-9F4A-4193D855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4857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Do not force a joint or hide a fit problem.</a:t>
            </a:r>
          </a:p>
        </p:txBody>
      </p:sp>
    </p:spTree>
    <p:extLst>
      <p:ext uri="{BB962C8B-B14F-4D97-AF65-F5344CB8AC3E}">
        <p14:creationId xmlns:p14="http://schemas.microsoft.com/office/powerpoint/2010/main" val="6304076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abel-3">
            <a:extLst xmlns:a="http://schemas.openxmlformats.org/drawingml/2006/main">
              <a:ext uri="{FF2B5EF4-FFF2-40B4-BE49-F238E27FC236}">
                <a16:creationId xmlns:a16="http://schemas.microsoft.com/office/drawing/2014/main" id="{B33DD526-02B9-441B-8E89-B473777B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D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D3A"/>
                </a:solidFill>
                <a:latin typeface="Arial"/>
                <a:ea typeface="Arial"/>
                <a:cs typeface="Arial"/>
              </a:rPr>
              <a:t>MODULE 3 OF 5 · WEEKS 5–6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5E0FCBFA-C8EB-435D-AF0C-38CAA3E1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accent-1">
            <a:extLst xmlns:a="http://schemas.openxmlformats.org/drawingml/2006/main">
              <a:ext uri="{FF2B5EF4-FFF2-40B4-BE49-F238E27FC236}">
                <a16:creationId xmlns:a16="http://schemas.microsoft.com/office/drawing/2014/main" id="{FED07993-A78F-4F52-9E6F-988A5F5A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2faf9b4e34ce0"/>
          <a:srcRect xmlns:a="http://schemas.openxmlformats.org/drawingml/2006/main" l="0" t="4237" r="0" b="42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57250"/>
            <a:ext cx="5619750" cy="5143500"/>
          </a:xfrm>
          <a:prstGeom xmlns:a="http://schemas.openxmlformats.org/drawingml/2006/main" prst="rect">
            <a:avLst/>
          </a:prstGeom>
        </p:spPr>
      </p:pic>
      <p:sp>
        <p:nvSpPr>
          <p:cNvPr id="5" name="topic-title-1">
            <a:extLst xmlns:a="http://schemas.openxmlformats.org/drawingml/2006/main">
              <a:ext uri="{FF2B5EF4-FFF2-40B4-BE49-F238E27FC236}">
                <a16:creationId xmlns:a16="http://schemas.microsoft.com/office/drawing/2014/main" id="{D6FE0AF9-3754-4490-9C79-EE2CB50D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001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Plan the glue-up before opening adhesive</a:t>
            </a:r>
          </a:p>
        </p:txBody>
      </p:sp>
      <p:sp>
        <p:nvSpPr>
          <p:cNvPr id="6" name="topic-body-1">
            <a:extLst xmlns:a="http://schemas.openxmlformats.org/drawingml/2006/main">
              <a:ext uri="{FF2B5EF4-FFF2-40B4-BE49-F238E27FC236}">
                <a16:creationId xmlns:a16="http://schemas.microsoft.com/office/drawing/2014/main" id="{020999E5-CEDF-4134-93A0-18D108CA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26579"/>
                </a:solidFill>
                <a:latin typeface="Arial"/>
                <a:ea typeface="Arial"/>
                <a:cs typeface="Arial"/>
              </a:rPr>
              <a:t>Prepare the sequence, clamp positions and alignment checks so pressure can be applied evenly and corrected promptly.</a:t>
            </a:r>
          </a:p>
        </p:txBody>
      </p:sp>
      <p:sp>
        <p:nvSpPr>
          <p:cNvPr id="7" name="check-rule-1">
            <a:extLst xmlns:a="http://schemas.openxmlformats.org/drawingml/2006/main">
              <a:ext uri="{FF2B5EF4-FFF2-40B4-BE49-F238E27FC236}">
                <a16:creationId xmlns:a16="http://schemas.microsoft.com/office/drawing/2014/main" id="{09117C1B-4752-4A88-97EC-C3C99CBE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topic-check-1">
            <a:extLst xmlns:a="http://schemas.openxmlformats.org/drawingml/2006/main">
              <a:ext uri="{FF2B5EF4-FFF2-40B4-BE49-F238E27FC236}">
                <a16:creationId xmlns:a16="http://schemas.microsoft.com/office/drawing/2014/main" id="{E20B7441-7670-4B4E-90D2-63B26678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8250"/>
            <a:ext cx="4857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Adhesive choice, timing and exact clamping remain teacher controlled.</a:t>
            </a:r>
          </a:p>
        </p:txBody>
      </p:sp>
    </p:spTree>
    <p:extLst>
      <p:ext uri="{BB962C8B-B14F-4D97-AF65-F5344CB8AC3E}">
        <p14:creationId xmlns:p14="http://schemas.microsoft.com/office/powerpoint/2010/main" val="19668814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abel-4">
            <a:extLst xmlns:a="http://schemas.openxmlformats.org/drawingml/2006/main">
              <a:ext uri="{FF2B5EF4-FFF2-40B4-BE49-F238E27FC236}">
                <a16:creationId xmlns:a16="http://schemas.microsoft.com/office/drawing/2014/main" id="{BF003C45-CFA2-4BC9-8D4A-6BED65BC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D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D3A"/>
                </a:solidFill>
                <a:latin typeface="Arial"/>
                <a:ea typeface="Arial"/>
                <a:cs typeface="Arial"/>
              </a:rPr>
              <a:t>MODULE 3 OF 5 · WEEKS 5–6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DF2A96F9-8CE6-4B88-BAFF-2116C387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d2471d8554fd1"/>
          <a:srcRect xmlns:a="http://schemas.openxmlformats.org/drawingml/2006/main" l="13580" t="0" r="135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857250"/>
            <a:ext cx="5619750" cy="5143500"/>
          </a:xfrm>
          <a:prstGeom xmlns:a="http://schemas.openxmlformats.org/drawingml/2006/main" prst="rect">
            <a:avLst/>
          </a:prstGeom>
        </p:spPr>
      </p:pic>
      <p:sp>
        <p:nvSpPr>
          <p:cNvPr id="4" name="topic-title-2">
            <a:extLst xmlns:a="http://schemas.openxmlformats.org/drawingml/2006/main">
              <a:ext uri="{FF2B5EF4-FFF2-40B4-BE49-F238E27FC236}">
                <a16:creationId xmlns:a16="http://schemas.microsoft.com/office/drawing/2014/main" id="{D56997CD-43B6-4AD7-86B2-DA2EBE0A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Router preparation begins before the machine starts</a:t>
            </a:r>
          </a:p>
        </p:txBody>
      </p:sp>
      <p:sp>
        <p:nvSpPr>
          <p:cNvPr id="5" name="topic-body-2">
            <a:extLst xmlns:a="http://schemas.openxmlformats.org/drawingml/2006/main">
              <a:ext uri="{FF2B5EF4-FFF2-40B4-BE49-F238E27FC236}">
                <a16:creationId xmlns:a16="http://schemas.microsoft.com/office/drawing/2014/main" id="{BD1293AA-E5B4-493E-8324-D76D94D7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26579"/>
                </a:solidFill>
                <a:latin typeface="Arial"/>
                <a:ea typeface="Arial"/>
                <a:cs typeface="Arial"/>
              </a:rPr>
              <a:t>Confirm the approved profile, cutter relationship, guards, extraction and secure workholding through the demonstrated process.</a:t>
            </a:r>
          </a:p>
        </p:txBody>
      </p:sp>
      <p:sp>
        <p:nvSpPr>
          <p:cNvPr id="6" name="check-rule-2">
            <a:extLst xmlns:a="http://schemas.openxmlformats.org/drawingml/2006/main">
              <a:ext uri="{FF2B5EF4-FFF2-40B4-BE49-F238E27FC236}">
                <a16:creationId xmlns:a16="http://schemas.microsoft.com/office/drawing/2014/main" id="{B98498D9-EB20-4201-BE7E-5F9CBA78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topic-check-2">
            <a:extLst xmlns:a="http://schemas.openxmlformats.org/drawingml/2006/main">
              <a:ext uri="{FF2B5EF4-FFF2-40B4-BE49-F238E27FC236}">
                <a16:creationId xmlns:a16="http://schemas.microsoft.com/office/drawing/2014/main" id="{C60E764B-5BF2-4E34-A543-E571FFED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4857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A video or prior experience never authorises machine use.</a:t>
            </a:r>
          </a:p>
        </p:txBody>
      </p:sp>
    </p:spTree>
    <p:extLst>
      <p:ext uri="{BB962C8B-B14F-4D97-AF65-F5344CB8AC3E}">
        <p14:creationId xmlns:p14="http://schemas.microsoft.com/office/powerpoint/2010/main" val="9659373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abel-5">
            <a:extLst xmlns:a="http://schemas.openxmlformats.org/drawingml/2006/main">
              <a:ext uri="{FF2B5EF4-FFF2-40B4-BE49-F238E27FC236}">
                <a16:creationId xmlns:a16="http://schemas.microsoft.com/office/drawing/2014/main" id="{51B04C34-3787-4B9A-BAF0-950E5C19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D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D3A"/>
                </a:solidFill>
                <a:latin typeface="Arial"/>
                <a:ea typeface="Arial"/>
                <a:cs typeface="Arial"/>
              </a:rPr>
              <a:t>BEFORE YOU MOVE ON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E9AEC163-A9F9-4B15-AF67-8CBC5023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close-panel">
            <a:extLst xmlns:a="http://schemas.openxmlformats.org/drawingml/2006/main">
              <a:ext uri="{FF2B5EF4-FFF2-40B4-BE49-F238E27FC236}">
                <a16:creationId xmlns:a16="http://schemas.microsoft.com/office/drawing/2014/main" id="{09E15236-2E60-46AB-9B67-BAADE847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close-title">
            <a:extLst xmlns:a="http://schemas.openxmlformats.org/drawingml/2006/main">
              <a:ext uri="{FF2B5EF4-FFF2-40B4-BE49-F238E27FC236}">
                <a16:creationId xmlns:a16="http://schemas.microsoft.com/office/drawing/2014/main" id="{FC01954A-62A7-4EA5-BD9D-7CA67362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Check first, glue only when ready and use the router only through the approved school process.</a:t>
            </a:r>
          </a:p>
        </p:txBody>
      </p:sp>
      <p:sp>
        <p:nvSpPr>
          <p:cNvPr id="5" name="close-action">
            <a:extLst xmlns:a="http://schemas.openxmlformats.org/drawingml/2006/main">
              <a:ext uri="{FF2B5EF4-FFF2-40B4-BE49-F238E27FC236}">
                <a16:creationId xmlns:a16="http://schemas.microsoft.com/office/drawing/2014/main" id="{60757685-171D-4EF7-B233-32069DD5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579"/>
                </a:solidFill>
                <a:latin typeface="Arial"/>
                <a:ea typeface="Arial"/>
                <a:cs typeface="Arial"/>
              </a:rPr>
              <a:t>Complete the knowledge checks and written responses, then save your evidence as directed.</a:t>
            </a:r>
          </a:p>
        </p:txBody>
      </p:sp>
    </p:spTree>
    <p:extLst>
      <p:ext uri="{BB962C8B-B14F-4D97-AF65-F5344CB8AC3E}">
        <p14:creationId xmlns:p14="http://schemas.microsoft.com/office/powerpoint/2010/main" val="18739671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2026-08-15T09:57:11.8090000Z</dcterms:created>
  <dcterms:modified xsi:type="dcterms:W3CDTF">2026-08-15T09:57:11.8090000Z</dcterms:modified>
</coreProperties>
</file>